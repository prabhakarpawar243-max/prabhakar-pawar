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083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5" r:id="rId19"/>
    <p:sldId id="276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74" d="100"/>
          <a:sy n="74" d="100"/>
        </p:scale>
        <p:origin x="119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bhakarpawar243@gmail.com" userId="b079666a4f98ed26" providerId="LiveId" clId="{4999ADFF-7A4B-4964-9BBB-AB3FAF7A3628}"/>
    <pc:docChg chg="custSel modSld">
      <pc:chgData name="prabhakarpawar243@gmail.com" userId="b079666a4f98ed26" providerId="LiveId" clId="{4999ADFF-7A4B-4964-9BBB-AB3FAF7A3628}" dt="2026-02-12T05:38:55.625" v="96" actId="20577"/>
      <pc:docMkLst>
        <pc:docMk/>
      </pc:docMkLst>
      <pc:sldChg chg="modSp mod">
        <pc:chgData name="prabhakarpawar243@gmail.com" userId="b079666a4f98ed26" providerId="LiveId" clId="{4999ADFF-7A4B-4964-9BBB-AB3FAF7A3628}" dt="2026-02-12T05:38:55.625" v="96" actId="20577"/>
        <pc:sldMkLst>
          <pc:docMk/>
          <pc:sldMk cId="0" sldId="256"/>
        </pc:sldMkLst>
        <pc:spChg chg="mod">
          <ac:chgData name="prabhakarpawar243@gmail.com" userId="b079666a4f98ed26" providerId="LiveId" clId="{4999ADFF-7A4B-4964-9BBB-AB3FAF7A3628}" dt="2026-02-12T05:38:55.625" v="96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F103-BC34-4FE4-A40E-EDDEECFDA5D0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080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744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682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073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74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500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831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358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028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82075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22746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80494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6003059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82941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033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258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900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4" r:id="rId1"/>
    <p:sldLayoutId id="2147484085" r:id="rId2"/>
    <p:sldLayoutId id="2147484086" r:id="rId3"/>
    <p:sldLayoutId id="2147484087" r:id="rId4"/>
    <p:sldLayoutId id="2147484088" r:id="rId5"/>
    <p:sldLayoutId id="2147484089" r:id="rId6"/>
    <p:sldLayoutId id="2147484090" r:id="rId7"/>
    <p:sldLayoutId id="2147484091" r:id="rId8"/>
    <p:sldLayoutId id="2147484092" r:id="rId9"/>
    <p:sldLayoutId id="2147484093" r:id="rId10"/>
    <p:sldLayoutId id="2147484094" r:id="rId11"/>
    <p:sldLayoutId id="2147484095" r:id="rId12"/>
    <p:sldLayoutId id="2147484096" r:id="rId13"/>
    <p:sldLayoutId id="2147484097" r:id="rId14"/>
    <p:sldLayoutId id="2147484098" r:id="rId15"/>
    <p:sldLayoutId id="2147484099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06775" y="186813"/>
            <a:ext cx="6406051" cy="100098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latin typeface="Arial Black" panose="020B0A04020102020204" pitchFamily="34" charset="0"/>
              </a:rPr>
              <a:t>E-Commerce</a:t>
            </a:r>
            <a:br>
              <a:rPr lang="en-US" sz="3200" b="1" dirty="0">
                <a:latin typeface="Arial Black" panose="020B0A04020102020204" pitchFamily="34" charset="0"/>
              </a:rPr>
            </a:br>
            <a:r>
              <a:rPr lang="en-US" sz="3200" b="1" dirty="0" err="1">
                <a:latin typeface="Arial Black" panose="020B0A04020102020204" pitchFamily="34" charset="0"/>
              </a:rPr>
              <a:t>Olist</a:t>
            </a:r>
            <a:r>
              <a:rPr lang="en-US" sz="3200" b="1" dirty="0">
                <a:latin typeface="Arial Black" panose="020B0A04020102020204" pitchFamily="34" charset="0"/>
              </a:rPr>
              <a:t> Store Analysis</a:t>
            </a:r>
            <a:endParaRPr lang="en-IN" sz="3200" b="1" dirty="0">
              <a:latin typeface="Arial Black" panose="020B0A04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78490" y="1854477"/>
            <a:ext cx="8825658" cy="3568012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PRESENTED BY:</a:t>
            </a:r>
          </a:p>
          <a:p>
            <a:pPr algn="ctr"/>
            <a:r>
              <a:rPr lang="en-US" b="1" dirty="0"/>
              <a:t>GROUP 5</a:t>
            </a:r>
          </a:p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7629FC-2309-BC4E-D994-F6762D0DA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120" y="1976693"/>
            <a:ext cx="3544184" cy="30815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INTRODUCTION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468032"/>
            <a:ext cx="10565098" cy="3785284"/>
          </a:xfrm>
        </p:spPr>
        <p:txBody>
          <a:bodyPr>
            <a:normAutofit/>
          </a:bodyPr>
          <a:lstStyle/>
          <a:p>
            <a:r>
              <a:rPr lang="en-US" dirty="0"/>
              <a:t>Domain: E-Commerce</a:t>
            </a:r>
          </a:p>
          <a:p>
            <a:r>
              <a:rPr lang="en-US" dirty="0"/>
              <a:t>E-commerce platforms generate large volumes of transactional and customer data.</a:t>
            </a:r>
          </a:p>
          <a:p>
            <a:r>
              <a:rPr lang="en-US" dirty="0"/>
              <a:t>Analyzing order behavior, payments, delivery performance, and reviews helps:</a:t>
            </a:r>
          </a:p>
          <a:p>
            <a:r>
              <a:rPr lang="en-US" dirty="0"/>
              <a:t>Improve customer satisfaction</a:t>
            </a:r>
          </a:p>
          <a:p>
            <a:r>
              <a:rPr lang="en-US" dirty="0"/>
              <a:t>Optimize logistics</a:t>
            </a:r>
          </a:p>
          <a:p>
            <a:r>
              <a:rPr lang="en-US" dirty="0"/>
              <a:t>Enhance payment strategies</a:t>
            </a:r>
          </a:p>
          <a:p>
            <a:r>
              <a:rPr lang="en-US" dirty="0"/>
              <a:t>This project focuses on analyzing e-commerce sales data from the </a:t>
            </a:r>
            <a:r>
              <a:rPr lang="en-US" dirty="0" err="1"/>
              <a:t>Olist</a:t>
            </a:r>
            <a:r>
              <a:rPr lang="en-US" dirty="0"/>
              <a:t> platform to understand customer orders, payments, delivery timelines, and reviews using real-world e-commerce data.</a:t>
            </a:r>
          </a:p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 Black" panose="020B0A04020102020204" pitchFamily="34" charset="0"/>
              </a:rPr>
              <a:t>DATA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281083"/>
            <a:ext cx="10565098" cy="4168877"/>
          </a:xfrm>
        </p:spPr>
        <p:txBody>
          <a:bodyPr>
            <a:normAutofit fontScale="77500" lnSpcReduction="20000"/>
          </a:bodyPr>
          <a:lstStyle/>
          <a:p>
            <a:r>
              <a:rPr lang="en-IN" sz="1900" b="1" dirty="0"/>
              <a:t>Dataset Source: </a:t>
            </a:r>
            <a:r>
              <a:rPr lang="en-IN" sz="1900" dirty="0" err="1"/>
              <a:t>Olist</a:t>
            </a:r>
            <a:r>
              <a:rPr lang="en-IN" sz="1900" dirty="0"/>
              <a:t> E-commerce Dataset</a:t>
            </a:r>
          </a:p>
          <a:p>
            <a:r>
              <a:rPr lang="en-IN" sz="1900" b="1" dirty="0"/>
              <a:t>Dataset Type: </a:t>
            </a:r>
            <a:r>
              <a:rPr lang="en-IN" sz="1900" dirty="0"/>
              <a:t>CSV </a:t>
            </a:r>
          </a:p>
          <a:p>
            <a:r>
              <a:rPr lang="en-IN" sz="1900" b="1" dirty="0"/>
              <a:t>Total Size: </a:t>
            </a:r>
            <a:r>
              <a:rPr lang="en-IN" sz="1900" dirty="0"/>
              <a:t>~45 MB</a:t>
            </a:r>
          </a:p>
          <a:p>
            <a:r>
              <a:rPr lang="en-IN" sz="1900" b="1" dirty="0"/>
              <a:t>Key Tables: </a:t>
            </a:r>
            <a:r>
              <a:rPr lang="en-IN" sz="1900" dirty="0"/>
              <a:t>Customers dataset, Orders dataset, Payments dataset, Reviews dataset, Products dataset, Order items dataset</a:t>
            </a:r>
          </a:p>
          <a:p>
            <a:r>
              <a:rPr lang="en-IN" sz="1900" b="1" dirty="0"/>
              <a:t>Data Content Includes: </a:t>
            </a:r>
            <a:r>
              <a:rPr lang="en-IN" sz="1900" dirty="0"/>
              <a:t>Customer details, order dates, delivery dates, payment types, review scores, product categories, and prices.</a:t>
            </a:r>
          </a:p>
          <a:p>
            <a:r>
              <a:rPr lang="en-US" sz="1900" b="1" dirty="0"/>
              <a:t>Important Columns:</a:t>
            </a:r>
          </a:p>
          <a:p>
            <a:pPr lvl="1" indent="-342900"/>
            <a:r>
              <a:rPr lang="en-US" sz="1900" dirty="0" err="1"/>
              <a:t>order_purchase_timestamp</a:t>
            </a:r>
            <a:endParaRPr lang="en-US" sz="1900" dirty="0"/>
          </a:p>
          <a:p>
            <a:pPr lvl="1" indent="-342900"/>
            <a:r>
              <a:rPr lang="en-US" sz="1900" dirty="0" err="1"/>
              <a:t>order_delivered_customer_date</a:t>
            </a:r>
            <a:endParaRPr lang="en-US" sz="1900" dirty="0"/>
          </a:p>
          <a:p>
            <a:pPr lvl="1" indent="-342900"/>
            <a:r>
              <a:rPr lang="en-US" sz="1900" dirty="0" err="1"/>
              <a:t>payment_type</a:t>
            </a:r>
            <a:r>
              <a:rPr lang="en-US" sz="1900" dirty="0"/>
              <a:t>, </a:t>
            </a:r>
            <a:r>
              <a:rPr lang="en-US" sz="1900" dirty="0" err="1"/>
              <a:t>payment_value</a:t>
            </a:r>
            <a:endParaRPr lang="en-US" sz="1900" dirty="0"/>
          </a:p>
          <a:p>
            <a:pPr lvl="1" indent="-342900"/>
            <a:r>
              <a:rPr lang="en-US" sz="1900" dirty="0" err="1"/>
              <a:t>review_score</a:t>
            </a:r>
            <a:endParaRPr lang="en-US" sz="1900" dirty="0"/>
          </a:p>
          <a:p>
            <a:pPr lvl="1" indent="-342900"/>
            <a:r>
              <a:rPr lang="en-US" sz="1900" dirty="0" err="1"/>
              <a:t>product_category_name</a:t>
            </a:r>
            <a:endParaRPr lang="en-US" sz="1900" dirty="0"/>
          </a:p>
          <a:p>
            <a:pPr lvl="1" indent="-342900"/>
            <a:r>
              <a:rPr lang="en-US" sz="1900" dirty="0" err="1"/>
              <a:t>customer_city</a:t>
            </a:r>
            <a:endParaRPr lang="en-US" sz="1900" dirty="0"/>
          </a:p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OBJECTIVES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251587"/>
            <a:ext cx="8825659" cy="393290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main objectives of this analysis are:</a:t>
            </a:r>
          </a:p>
          <a:p>
            <a:pPr marL="0" indent="0">
              <a:buNone/>
            </a:pPr>
            <a:endParaRPr lang="en-US" dirty="0"/>
          </a:p>
          <a:p>
            <a:pPr marL="400050" lvl="1" indent="0">
              <a:buNone/>
            </a:pPr>
            <a:r>
              <a:rPr lang="en-US" sz="1700" b="1" dirty="0"/>
              <a:t>1.Compare weekday vs weekend order payments</a:t>
            </a:r>
          </a:p>
          <a:p>
            <a:pPr marL="400050" lvl="1" indent="0">
              <a:buNone/>
            </a:pPr>
            <a:endParaRPr lang="en-US" sz="1700" b="1" dirty="0"/>
          </a:p>
          <a:p>
            <a:pPr marL="400050" lvl="1" indent="0">
              <a:buNone/>
            </a:pPr>
            <a:r>
              <a:rPr lang="en-US" sz="1700" b="1" dirty="0"/>
              <a:t>2. Identify credit card orders with 5-star reviews</a:t>
            </a:r>
          </a:p>
          <a:p>
            <a:pPr marL="400050" lvl="1" indent="0">
              <a:buNone/>
            </a:pPr>
            <a:endParaRPr lang="en-US" sz="1700" b="1" dirty="0"/>
          </a:p>
          <a:p>
            <a:pPr marL="400050" lvl="1" indent="0">
              <a:buNone/>
            </a:pPr>
            <a:r>
              <a:rPr lang="en-US" sz="1700" b="1" dirty="0"/>
              <a:t>3. Measure  average delivery time for pet-shop orders</a:t>
            </a:r>
          </a:p>
          <a:p>
            <a:pPr marL="400050" lvl="1" indent="0">
              <a:buNone/>
            </a:pPr>
            <a:endParaRPr lang="en-US" sz="1700" b="1" dirty="0"/>
          </a:p>
          <a:p>
            <a:pPr marL="400050" lvl="1" indent="0">
              <a:buNone/>
            </a:pPr>
            <a:r>
              <a:rPr lang="en-US" sz="1700" b="1" dirty="0"/>
              <a:t>4. Analyze average price &amp; payment value for São Paulo customers</a:t>
            </a:r>
          </a:p>
          <a:p>
            <a:pPr marL="400050" lvl="1" indent="0">
              <a:buNone/>
            </a:pPr>
            <a:endParaRPr lang="en-US" sz="1700" b="1" dirty="0"/>
          </a:p>
          <a:p>
            <a:pPr marL="400050" lvl="1" indent="0">
              <a:buNone/>
            </a:pPr>
            <a:r>
              <a:rPr lang="en-US" sz="1700" b="1" dirty="0"/>
              <a:t>5. Understand the relationship between shipping time and review scores</a:t>
            </a:r>
            <a:endParaRPr lang="en-IN" sz="17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PROCESS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251587"/>
            <a:ext cx="9552375" cy="4336026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Collected and understood the </a:t>
            </a:r>
            <a:r>
              <a:rPr lang="en-IN" dirty="0" err="1"/>
              <a:t>Olist</a:t>
            </a:r>
            <a:r>
              <a:rPr lang="en-IN" dirty="0"/>
              <a:t> dataset</a:t>
            </a:r>
          </a:p>
          <a:p>
            <a:r>
              <a:rPr lang="en-IN" dirty="0"/>
              <a:t>Cleaned and prepared data in Excel</a:t>
            </a:r>
          </a:p>
          <a:p>
            <a:r>
              <a:rPr lang="en-IN" dirty="0"/>
              <a:t>Imported datasets into SQL</a:t>
            </a:r>
          </a:p>
          <a:p>
            <a:r>
              <a:rPr lang="en-IN" dirty="0"/>
              <a:t>Wrote SQL queries for KPIs and insights</a:t>
            </a:r>
          </a:p>
          <a:p>
            <a:r>
              <a:rPr lang="en-IN" dirty="0"/>
              <a:t>Connected SQL output to Power BI</a:t>
            </a:r>
          </a:p>
          <a:p>
            <a:r>
              <a:rPr lang="en-IN" dirty="0"/>
              <a:t>Created interactive dashboards</a:t>
            </a:r>
          </a:p>
          <a:p>
            <a:r>
              <a:rPr lang="en-IN" dirty="0" err="1"/>
              <a:t>Analyzed</a:t>
            </a:r>
            <a:r>
              <a:rPr lang="en-IN" dirty="0"/>
              <a:t> results and interpreted insights</a:t>
            </a:r>
            <a:endParaRPr lang="en-US" dirty="0"/>
          </a:p>
          <a:p>
            <a:r>
              <a:rPr lang="en-US" dirty="0"/>
              <a:t>Tools Used:</a:t>
            </a:r>
          </a:p>
          <a:p>
            <a:pPr marL="400050" lvl="1" indent="0">
              <a:buNone/>
            </a:pPr>
            <a:r>
              <a:rPr lang="en-US" b="1" dirty="0"/>
              <a:t>* Excel</a:t>
            </a:r>
          </a:p>
          <a:p>
            <a:pPr marL="400050" lvl="1" indent="0">
              <a:buNone/>
            </a:pPr>
            <a:r>
              <a:rPr lang="en-US" b="1" dirty="0"/>
              <a:t>* Power BI</a:t>
            </a:r>
          </a:p>
          <a:p>
            <a:pPr marL="400050" lvl="1" indent="0">
              <a:buNone/>
            </a:pPr>
            <a:r>
              <a:rPr lang="en-US" b="1" dirty="0"/>
              <a:t>* Tableau</a:t>
            </a:r>
          </a:p>
          <a:p>
            <a:pPr marL="400050" lvl="1" indent="0">
              <a:buNone/>
            </a:pPr>
            <a:r>
              <a:rPr lang="en-US" b="1" dirty="0"/>
              <a:t>* My SQL</a:t>
            </a:r>
          </a:p>
          <a:p>
            <a:pPr marL="400050" lvl="1" indent="0">
              <a:buNone/>
            </a:pPr>
            <a:endParaRPr lang="en-IN" sz="15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7"/>
            <a:ext cx="9218078" cy="756810"/>
          </a:xfrm>
        </p:spPr>
        <p:txBody>
          <a:bodyPr/>
          <a:lstStyle/>
          <a:p>
            <a:r>
              <a:rPr lang="en-US" sz="2400" dirty="0">
                <a:latin typeface="Arial Black" panose="020B0A04020102020204" pitchFamily="34" charset="0"/>
              </a:rPr>
              <a:t> Analysis 1 – Weekday vs Weekend Payment Statistics</a:t>
            </a:r>
            <a:endParaRPr lang="en-IN" sz="2400" dirty="0">
              <a:latin typeface="Arial Black" panose="020B0A04020102020204" pitchFamily="34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54954" y="2404398"/>
            <a:ext cx="4183963" cy="3052505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79690" y="2603500"/>
            <a:ext cx="5154181" cy="3416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INSIGHTS:</a:t>
            </a:r>
            <a:endParaRPr lang="en-US" dirty="0"/>
          </a:p>
          <a:p>
            <a:r>
              <a:rPr lang="en-US" dirty="0"/>
              <a:t>Weekdays have higher order volume indicating customers prefer shopping during weekdays.</a:t>
            </a:r>
          </a:p>
          <a:p>
            <a:r>
              <a:rPr lang="en-US" dirty="0"/>
              <a:t>Total payment value is significantly higher on weekdays</a:t>
            </a:r>
          </a:p>
          <a:p>
            <a:r>
              <a:rPr lang="en-US" dirty="0"/>
              <a:t>Weekend shopping exists but is less frequent</a:t>
            </a:r>
          </a:p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7"/>
            <a:ext cx="9218078" cy="756810"/>
          </a:xfrm>
        </p:spPr>
        <p:txBody>
          <a:bodyPr/>
          <a:lstStyle/>
          <a:p>
            <a:r>
              <a:rPr lang="en-US" sz="2400" dirty="0">
                <a:latin typeface="Arial Black" panose="020B0A04020102020204" pitchFamily="34" charset="0"/>
              </a:rPr>
              <a:t>Analysis 2 – Credit Card Orders with Review Score 5</a:t>
            </a:r>
            <a:endParaRPr lang="en-IN" sz="2400" dirty="0">
              <a:latin typeface="Arial Black" panose="020B0A04020102020204" pitchFamily="34" charset="0"/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66176" y="2603500"/>
            <a:ext cx="3406435" cy="258756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2603500"/>
            <a:ext cx="5154181" cy="3416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INSIGHTS:</a:t>
            </a:r>
            <a:endParaRPr lang="en-US" dirty="0"/>
          </a:p>
          <a:p>
            <a:r>
              <a:rPr lang="en-US" dirty="0"/>
              <a:t>Credit cards are the most trusted payment method</a:t>
            </a:r>
          </a:p>
          <a:p>
            <a:r>
              <a:rPr lang="en-US" dirty="0"/>
              <a:t>High customer satisfaction is strongly linked with credit card usage</a:t>
            </a:r>
          </a:p>
          <a:p>
            <a:r>
              <a:rPr lang="en-US" dirty="0"/>
              <a:t>Indicates smoother transaction experience</a:t>
            </a:r>
          </a:p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7"/>
            <a:ext cx="9670362" cy="756810"/>
          </a:xfrm>
        </p:spPr>
        <p:txBody>
          <a:bodyPr/>
          <a:lstStyle/>
          <a:p>
            <a:r>
              <a:rPr lang="en-US" sz="2400" dirty="0">
                <a:latin typeface="Arial Black" panose="020B0A04020102020204" pitchFamily="34" charset="0"/>
              </a:rPr>
              <a:t>Analysis 3 – Average Delivery Days for Pet Shop Orders</a:t>
            </a:r>
            <a:endParaRPr lang="en-IN" sz="2400" dirty="0">
              <a:latin typeface="Arial Black" panose="020B0A04020102020204" pitchFamily="34" charset="0"/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56852" y="2603500"/>
            <a:ext cx="4001728" cy="2846165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2603500"/>
            <a:ext cx="5154181" cy="3416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INSIGHTS:</a:t>
            </a:r>
            <a:endParaRPr lang="en-US" dirty="0"/>
          </a:p>
          <a:p>
            <a:r>
              <a:rPr lang="en-US" dirty="0"/>
              <a:t>Pet shop products take approximately </a:t>
            </a:r>
            <a:r>
              <a:rPr lang="en-US" b="1" dirty="0"/>
              <a:t>11 </a:t>
            </a:r>
            <a:r>
              <a:rPr lang="en-US" dirty="0"/>
              <a:t>days on average</a:t>
            </a:r>
          </a:p>
          <a:p>
            <a:r>
              <a:rPr lang="en-US" dirty="0"/>
              <a:t>Delivery speed is critical for pet-related products</a:t>
            </a:r>
          </a:p>
          <a:p>
            <a:r>
              <a:rPr lang="en-US" dirty="0"/>
              <a:t>Pet Shop category has a moderate average delivery time compared to other product categories.</a:t>
            </a:r>
          </a:p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4065" y="973667"/>
            <a:ext cx="10500851" cy="756810"/>
          </a:xfrm>
        </p:spPr>
        <p:txBody>
          <a:bodyPr/>
          <a:lstStyle/>
          <a:p>
            <a:r>
              <a:rPr lang="en-US" sz="2400" dirty="0">
                <a:latin typeface="Arial Black" panose="020B0A04020102020204" pitchFamily="34" charset="0"/>
              </a:rPr>
              <a:t> Analysis 4 – São Paulo Customers: Average Price &amp; Payment</a:t>
            </a:r>
            <a:endParaRPr lang="en-IN" sz="2400" dirty="0">
              <a:latin typeface="Arial Black" panose="020B0A04020102020204" pitchFamily="34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19521" y="3003931"/>
            <a:ext cx="3299746" cy="2194750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2603500"/>
            <a:ext cx="5154181" cy="34163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INSIGHTS:</a:t>
            </a:r>
          </a:p>
          <a:p>
            <a:r>
              <a:rPr lang="en-US" dirty="0"/>
              <a:t>São Paulo customers show higher average spending</a:t>
            </a:r>
          </a:p>
          <a:p>
            <a:r>
              <a:rPr lang="en-US" dirty="0"/>
              <a:t>Indicates strong purchasing power and urban demand</a:t>
            </a:r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4066" y="973667"/>
            <a:ext cx="9940412" cy="756810"/>
          </a:xfrm>
        </p:spPr>
        <p:txBody>
          <a:bodyPr/>
          <a:lstStyle/>
          <a:p>
            <a:r>
              <a:rPr lang="en-US" sz="2400" dirty="0">
                <a:latin typeface="Arial Black" panose="020B0A04020102020204" pitchFamily="34" charset="0"/>
              </a:rPr>
              <a:t> Analysis 5 – Shipping Days vs Review Scores</a:t>
            </a:r>
            <a:endParaRPr lang="en-IN" sz="2400" dirty="0">
              <a:latin typeface="Arial Black" panose="020B0A04020102020204" pitchFamily="34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48987" y="2523830"/>
            <a:ext cx="3840813" cy="3154953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2603500"/>
            <a:ext cx="5154181" cy="34163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INSIGHTS:</a:t>
            </a:r>
          </a:p>
          <a:p>
            <a:r>
              <a:rPr lang="en-US" dirty="0"/>
              <a:t>If delivery time is shorter then higher review scores</a:t>
            </a:r>
          </a:p>
          <a:p>
            <a:r>
              <a:rPr lang="en-US" dirty="0"/>
              <a:t>If delivery time is longer then lower customer satisfaction</a:t>
            </a:r>
          </a:p>
          <a:p>
            <a:r>
              <a:rPr lang="en-US" dirty="0"/>
              <a:t>Strong negative relationship observed</a:t>
            </a:r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 Black" panose="020B0A04020102020204" pitchFamily="34" charset="0"/>
              </a:rPr>
              <a:t>Recommendations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🚚 Improve logistics to reduce delivery time</a:t>
            </a:r>
          </a:p>
          <a:p>
            <a:r>
              <a:rPr lang="en-US" dirty="0"/>
              <a:t>💳 Encourage credit card payments for smoother experience</a:t>
            </a:r>
          </a:p>
          <a:p>
            <a:r>
              <a:rPr lang="en-US" dirty="0"/>
              <a:t>📅 Promote weekend deals to boost weekend sales</a:t>
            </a:r>
          </a:p>
          <a:p>
            <a:r>
              <a:rPr lang="en-US" dirty="0"/>
              <a:t>🐾 Prioritize faster delivery for pet shop products</a:t>
            </a:r>
          </a:p>
          <a:p>
            <a:r>
              <a:rPr lang="en-US" dirty="0"/>
              <a:t>⭐ Monitor shipping delays to prevent low review scores</a:t>
            </a:r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 Black" panose="020B0A04020102020204" pitchFamily="34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Weekday shopping dominates e-commerce activity</a:t>
            </a:r>
          </a:p>
          <a:p>
            <a:r>
              <a:rPr lang="en-US" dirty="0"/>
              <a:t>Credit card payments strongly correlate with positive reviews</a:t>
            </a:r>
          </a:p>
          <a:p>
            <a:r>
              <a:rPr lang="en-US" dirty="0"/>
              <a:t>Faster delivery significantly improves customer satisfaction</a:t>
            </a:r>
          </a:p>
          <a:p>
            <a:r>
              <a:rPr lang="en-US" dirty="0"/>
              <a:t>São Paulo remains a high-value customer region</a:t>
            </a:r>
          </a:p>
          <a:p>
            <a:r>
              <a:rPr lang="en-US" dirty="0"/>
              <a:t>Data-driven decisions can greatly enhance business performance</a:t>
            </a:r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Challenges &amp;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035277"/>
            <a:ext cx="8825659" cy="398452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Challenges:</a:t>
            </a:r>
          </a:p>
          <a:p>
            <a:r>
              <a:rPr lang="en-US" dirty="0"/>
              <a:t>Handling missing delivery dates</a:t>
            </a:r>
          </a:p>
          <a:p>
            <a:r>
              <a:rPr lang="en-US" dirty="0"/>
              <a:t>Joining multiple large tables</a:t>
            </a:r>
          </a:p>
          <a:p>
            <a:r>
              <a:rPr lang="en-US" dirty="0"/>
              <a:t>Difficulty in writing complex SQL queries</a:t>
            </a:r>
          </a:p>
          <a:p>
            <a:r>
              <a:rPr lang="en-US" dirty="0"/>
              <a:t>Time-based calculations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Learnings:</a:t>
            </a:r>
            <a:endParaRPr lang="en-US" dirty="0"/>
          </a:p>
          <a:p>
            <a:r>
              <a:rPr lang="en-US" dirty="0"/>
              <a:t>Importance of analysis</a:t>
            </a:r>
          </a:p>
          <a:p>
            <a:r>
              <a:rPr lang="en-US" dirty="0"/>
              <a:t>Real-world data is messy but insightful</a:t>
            </a:r>
          </a:p>
          <a:p>
            <a:r>
              <a:rPr lang="en-US" dirty="0"/>
              <a:t>Visualization simplifies complex insights</a:t>
            </a:r>
          </a:p>
          <a:p>
            <a:r>
              <a:rPr lang="en-US" dirty="0"/>
              <a:t>Customer satisfaction is closely tied to logistics performance</a:t>
            </a:r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5457" y="973668"/>
            <a:ext cx="8761413" cy="706964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EXCEL</a:t>
            </a:r>
            <a:endParaRPr lang="en-IN" dirty="0">
              <a:latin typeface="Arial Black" panose="020B0A04020102020204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0B62D80-2C3A-06AB-3A9E-0580108D89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2865" y="2131091"/>
            <a:ext cx="7546595" cy="3935412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5457" y="973668"/>
            <a:ext cx="8761413" cy="706964"/>
          </a:xfrm>
        </p:spPr>
        <p:txBody>
          <a:bodyPr>
            <a:normAutofit/>
          </a:bodyPr>
          <a:lstStyle/>
          <a:p>
            <a:pPr algn="ctr"/>
            <a:r>
              <a:rPr lang="en-US" dirty="0" err="1">
                <a:latin typeface="Arial Black" panose="020B0A04020102020204" pitchFamily="34" charset="0"/>
              </a:rPr>
              <a:t>PowerBI</a:t>
            </a:r>
            <a:endParaRPr lang="en-IN" dirty="0">
              <a:latin typeface="Arial Black" panose="020B0A04020102020204" pitchFamily="34" charset="0"/>
            </a:endParaRPr>
          </a:p>
        </p:txBody>
      </p:sp>
      <p:pic>
        <p:nvPicPr>
          <p:cNvPr id="7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6431" y="2160588"/>
            <a:ext cx="6899176" cy="3881437"/>
          </a:xfr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825" y="904842"/>
            <a:ext cx="8761413" cy="706964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Tableau</a:t>
            </a:r>
            <a:endParaRPr lang="en-IN" dirty="0">
              <a:latin typeface="Arial Black" panose="020B0A04020102020204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E8938EB-72C8-1914-FBAE-DF59CFC045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5678" y="1927121"/>
            <a:ext cx="7914968" cy="4365523"/>
          </a:xfr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SQL</a:t>
            </a:r>
            <a:endParaRPr lang="en-IN" dirty="0">
              <a:latin typeface="Arial Black" panose="020B0A040201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04567" y="2160588"/>
            <a:ext cx="3929653" cy="3881437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089525" y="2470977"/>
            <a:ext cx="4184650" cy="326065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942" y="835742"/>
            <a:ext cx="9304825" cy="543723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1253067"/>
          </a:xfrm>
        </p:spPr>
        <p:txBody>
          <a:bodyPr/>
          <a:lstStyle/>
          <a:p>
            <a:pPr algn="ctr"/>
            <a:r>
              <a:rPr lang="en-IN" dirty="0">
                <a:latin typeface="Arial Black" panose="020B0A04020102020204" pitchFamily="34" charset="0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38</TotalTime>
  <Words>585</Words>
  <Application>Microsoft Office PowerPoint</Application>
  <PresentationFormat>Widescreen</PresentationFormat>
  <Paragraphs>103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Arial Black</vt:lpstr>
      <vt:lpstr>Trebuchet MS</vt:lpstr>
      <vt:lpstr>Wingdings 3</vt:lpstr>
      <vt:lpstr>Facet</vt:lpstr>
      <vt:lpstr>E-Commerce Olist Store Analysis</vt:lpstr>
      <vt:lpstr>INTRODUCTION</vt:lpstr>
      <vt:lpstr>DATA OVERVIEW</vt:lpstr>
      <vt:lpstr>OBJECTIVES</vt:lpstr>
      <vt:lpstr>PROCESS</vt:lpstr>
      <vt:lpstr> Analysis 1 – Weekday vs Weekend Payment Statistics</vt:lpstr>
      <vt:lpstr>Analysis 2 – Credit Card Orders with Review Score 5</vt:lpstr>
      <vt:lpstr>Analysis 3 – Average Delivery Days for Pet Shop Orders</vt:lpstr>
      <vt:lpstr> Analysis 4 – São Paulo Customers: Average Price &amp; Payment</vt:lpstr>
      <vt:lpstr> Analysis 5 – Shipping Days vs Review Scores</vt:lpstr>
      <vt:lpstr>Recommendations &amp; Insights</vt:lpstr>
      <vt:lpstr>CONCLUSION</vt:lpstr>
      <vt:lpstr>Challenges &amp; Learnings</vt:lpstr>
      <vt:lpstr>EXCEL</vt:lpstr>
      <vt:lpstr>PowerBI</vt:lpstr>
      <vt:lpstr>Tableau</vt:lpstr>
      <vt:lpstr>SQL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Sushant Bhosale</dc:creator>
  <cp:lastModifiedBy>prabhakarpawar243@gmail.com</cp:lastModifiedBy>
  <cp:revision>26</cp:revision>
  <dcterms:created xsi:type="dcterms:W3CDTF">2026-01-12T04:32:00Z</dcterms:created>
  <dcterms:modified xsi:type="dcterms:W3CDTF">2026-02-12T05:38:57Z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CDD6ECAAE85C4ACA91A3029405388A96_12</vt:lpwstr>
  </property>
  <property fmtid="{D5CDD505-2E9C-101B-9397-08002B2CF9AE}" pid="3" name="KSOProductBuildVer">
    <vt:lpwstr>1033-12.2.0.23196</vt:lpwstr>
  </property>
</Properties>
</file>